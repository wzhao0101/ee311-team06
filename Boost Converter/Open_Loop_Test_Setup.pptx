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9B2"/>
          </a:solidFill>
          <a:ln w="19050">
            <a:solidFill>
              <a:srgbClr val="1A6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38328"/>
            <a:ext cx="1097280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1E364F"/>
                </a:solidFill>
                <a:latin typeface="Aptos"/>
              </a:rPr>
              <a:t>Boost converter | Open-loop test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29260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596D81"/>
                </a:solidFill>
                <a:latin typeface="Aptos"/>
              </a:rPr>
              <a:t>PR3 experimental connection diagram  •  Direct pulse injection at VGD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40"/>
            <a:ext cx="2999232" cy="3986784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BCC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2514600" cy="33832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000" b="1">
                <a:solidFill>
                  <a:srgbClr val="1E364F"/>
                </a:solidFill>
                <a:latin typeface="Aptos"/>
              </a:rPr>
              <a:t>Oscilloscope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29968"/>
            <a:ext cx="2487168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596D81"/>
                </a:solidFill>
                <a:latin typeface="Aptos"/>
              </a:rPr>
              <a:t>Built-in signal generator + CH1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78608"/>
            <a:ext cx="246888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724912"/>
            <a:ext cx="2157984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D77023"/>
                </a:solidFill>
                <a:latin typeface="Aptos"/>
              </a:rPr>
              <a:t>Generator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026664"/>
            <a:ext cx="214884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596D81"/>
                </a:solidFill>
                <a:latin typeface="Aptos"/>
              </a:rPr>
              <a:t>Pulse; vary duty 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80"/>
            <a:ext cx="2468880" cy="9418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995928"/>
            <a:ext cx="212140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0E878E"/>
                </a:solidFill>
                <a:latin typeface="Aptos"/>
              </a:rPr>
              <a:t>CH1 probe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297680"/>
            <a:ext cx="2139696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596D81"/>
                </a:solidFill>
                <a:latin typeface="Aptos"/>
              </a:rPr>
              <a:t>Measure Vout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79008"/>
            <a:ext cx="2999232" cy="667512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BCC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916168"/>
            <a:ext cx="2615184" cy="30175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1A69B2"/>
                </a:solidFill>
                <a:latin typeface="Aptos"/>
              </a:rPr>
              <a:t>DC supply  2.5 V / 3.5 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490472"/>
            <a:ext cx="6931152" cy="4352544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BCC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691640"/>
            <a:ext cx="6080760" cy="3566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000" b="1">
                <a:solidFill>
                  <a:srgbClr val="1E364F"/>
                </a:solidFill>
                <a:latin typeface="Aptos"/>
              </a:rPr>
              <a:t>Boost power stage (DUT)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093976"/>
            <a:ext cx="608076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596D81"/>
                </a:solidFill>
                <a:latin typeface="Aptos"/>
              </a:rPr>
              <a:t>Simplified from the supplied Altium schematic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56632" y="2926080"/>
            <a:ext cx="539496" cy="0"/>
          </a:xfrm>
          <a:prstGeom prst="line">
            <a:avLst/>
          </a:prstGeom>
          <a:ln w="38100">
            <a:solidFill>
              <a:srgbClr val="1A6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596128" y="2724912"/>
            <a:ext cx="91440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A6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779776"/>
            <a:ext cx="603504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A69B2"/>
                </a:solidFill>
                <a:latin typeface="Aptos"/>
              </a:rPr>
              <a:t>L1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10528" y="2926080"/>
            <a:ext cx="822960" cy="0"/>
          </a:xfrm>
          <a:prstGeom prst="line">
            <a:avLst/>
          </a:prstGeom>
          <a:ln w="38100">
            <a:solidFill>
              <a:srgbClr val="1A6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283196" y="2875788"/>
            <a:ext cx="100584" cy="100584"/>
          </a:xfrm>
          <a:prstGeom prst="ellipse">
            <a:avLst/>
          </a:prstGeom>
          <a:solidFill>
            <a:srgbClr val="1A69B2"/>
          </a:solidFill>
          <a:ln w="19050">
            <a:solidFill>
              <a:srgbClr val="1A6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54112" y="2724912"/>
            <a:ext cx="941832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A6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36992" y="2779776"/>
            <a:ext cx="57607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A69B2"/>
                </a:solidFill>
                <a:latin typeface="Aptos"/>
              </a:rPr>
              <a:t>D1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33488" y="2926080"/>
            <a:ext cx="420624" cy="0"/>
          </a:xfrm>
          <a:prstGeom prst="line">
            <a:avLst/>
          </a:prstGeom>
          <a:ln w="38100">
            <a:solidFill>
              <a:srgbClr val="1A6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695944" y="2926080"/>
            <a:ext cx="2249424" cy="0"/>
          </a:xfrm>
          <a:prstGeom prst="line">
            <a:avLst/>
          </a:prstGeom>
          <a:ln w="38100">
            <a:solidFill>
              <a:srgbClr val="1A6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648188" y="2875788"/>
            <a:ext cx="100584" cy="100584"/>
          </a:xfrm>
          <a:prstGeom prst="ellipse">
            <a:avLst/>
          </a:prstGeom>
          <a:solidFill>
            <a:srgbClr val="1A69B2"/>
          </a:solidFill>
          <a:ln w="19050">
            <a:solidFill>
              <a:srgbClr val="1A6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65192" y="2514600"/>
            <a:ext cx="1005840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1A69B2"/>
                </a:solidFill>
                <a:latin typeface="Aptos"/>
              </a:rPr>
              <a:t>Vbat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072" y="2514600"/>
            <a:ext cx="1591056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0E878E"/>
                </a:solidFill>
                <a:latin typeface="Aptos"/>
              </a:rPr>
              <a:t>5V output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33488" y="2926080"/>
            <a:ext cx="0" cy="649224"/>
          </a:xfrm>
          <a:prstGeom prst="line">
            <a:avLst/>
          </a:prstGeom>
          <a:ln w="33020">
            <a:solidFill>
              <a:srgbClr val="1A6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031736" y="3584448"/>
            <a:ext cx="630936" cy="722376"/>
          </a:xfrm>
          <a:prstGeom prst="rect">
            <a:avLst/>
          </a:prstGeom>
          <a:solidFill>
            <a:srgbClr val="FFFFFF"/>
          </a:solidFill>
          <a:ln w="19050">
            <a:solidFill>
              <a:srgbClr val="1A6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3749039"/>
            <a:ext cx="42976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A69B2"/>
                </a:solidFill>
                <a:latin typeface="Aptos"/>
              </a:rPr>
              <a:t>Q1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33488" y="4306824"/>
            <a:ext cx="0" cy="310896"/>
          </a:xfrm>
          <a:prstGeom prst="line">
            <a:avLst/>
          </a:prstGeom>
          <a:ln w="30480">
            <a:solidFill>
              <a:srgbClr val="1A6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077456" y="4617720"/>
            <a:ext cx="502920" cy="356616"/>
          </a:xfrm>
          <a:prstGeom prst="rect">
            <a:avLst/>
          </a:prstGeom>
          <a:solidFill>
            <a:srgbClr val="FFFFFF"/>
          </a:solidFill>
          <a:ln w="19050">
            <a:solidFill>
              <a:srgbClr val="1A6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87184" y="4663440"/>
            <a:ext cx="283464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A69B2"/>
                </a:solidFill>
                <a:latin typeface="Aptos"/>
              </a:rPr>
              <a:t>R5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333488" y="4974336"/>
            <a:ext cx="0" cy="246888"/>
          </a:xfrm>
          <a:prstGeom prst="line">
            <a:avLst/>
          </a:prstGeom>
          <a:ln w="30480">
            <a:solidFill>
              <a:srgbClr val="1A6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031736" y="5221224"/>
            <a:ext cx="603504" cy="0"/>
          </a:xfrm>
          <a:prstGeom prst="line">
            <a:avLst/>
          </a:prstGeom>
          <a:ln w="25400">
            <a:solidFill>
              <a:srgbClr val="1A6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699248" y="5074920"/>
            <a:ext cx="114300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596D81"/>
                </a:solidFill>
                <a:latin typeface="Aptos"/>
              </a:rPr>
              <a:t>GND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34456" y="3941063"/>
            <a:ext cx="1097280" cy="0"/>
          </a:xfrm>
          <a:prstGeom prst="line">
            <a:avLst/>
          </a:prstGeom>
          <a:ln w="35560">
            <a:solidFill>
              <a:srgbClr val="D77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884164" y="3890772"/>
            <a:ext cx="100584" cy="100584"/>
          </a:xfrm>
          <a:prstGeom prst="ellipse">
            <a:avLst/>
          </a:prstGeom>
          <a:solidFill>
            <a:srgbClr val="D77023"/>
          </a:solidFill>
          <a:ln w="19050">
            <a:solidFill>
              <a:srgbClr val="D7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51576" y="3538728"/>
            <a:ext cx="1042415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D77023"/>
                </a:solidFill>
                <a:latin typeface="Aptos"/>
              </a:rPr>
              <a:t>VGD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291840" y="3026664"/>
            <a:ext cx="667512" cy="0"/>
          </a:xfrm>
          <a:prstGeom prst="line">
            <a:avLst/>
          </a:prstGeom>
          <a:ln w="35560">
            <a:solidFill>
              <a:srgbClr val="D77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959352" y="3026664"/>
            <a:ext cx="0" cy="914399"/>
          </a:xfrm>
          <a:prstGeom prst="line">
            <a:avLst/>
          </a:prstGeom>
          <a:ln w="35560">
            <a:solidFill>
              <a:srgbClr val="D77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959352" y="3941063"/>
            <a:ext cx="1975104" cy="0"/>
          </a:xfrm>
          <a:prstGeom prst="line">
            <a:avLst/>
          </a:prstGeom>
          <a:ln w="35560">
            <a:solidFill>
              <a:srgbClr val="D77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648456" y="2779776"/>
            <a:ext cx="96012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D77023"/>
                </a:solidFill>
                <a:latin typeface="Aptos"/>
              </a:rPr>
              <a:t>Pulse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291840" y="4315968"/>
            <a:ext cx="1024128" cy="0"/>
          </a:xfrm>
          <a:prstGeom prst="line">
            <a:avLst/>
          </a:prstGeom>
          <a:ln w="35560">
            <a:solidFill>
              <a:srgbClr val="0E8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315968" y="2414016"/>
            <a:ext cx="0" cy="1901952"/>
          </a:xfrm>
          <a:prstGeom prst="line">
            <a:avLst/>
          </a:prstGeom>
          <a:ln w="35560">
            <a:solidFill>
              <a:srgbClr val="0E8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315968" y="2414016"/>
            <a:ext cx="6382512" cy="0"/>
          </a:xfrm>
          <a:prstGeom prst="line">
            <a:avLst/>
          </a:prstGeom>
          <a:ln w="35560">
            <a:solidFill>
              <a:srgbClr val="0E8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698480" y="2414016"/>
            <a:ext cx="0" cy="512064"/>
          </a:xfrm>
          <a:prstGeom prst="line">
            <a:avLst/>
          </a:prstGeom>
          <a:ln w="35560">
            <a:solidFill>
              <a:srgbClr val="0E8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361688" y="2185416"/>
            <a:ext cx="155448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0E878E"/>
                </a:solidFill>
                <a:latin typeface="Aptos"/>
              </a:rPr>
              <a:t>CH1 tip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566160" y="6117336"/>
            <a:ext cx="603503" cy="0"/>
          </a:xfrm>
          <a:prstGeom prst="line">
            <a:avLst/>
          </a:prstGeom>
          <a:ln w="35560">
            <a:solidFill>
              <a:srgbClr val="1A6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169663" y="2926080"/>
            <a:ext cx="0" cy="3191256"/>
          </a:xfrm>
          <a:prstGeom prst="line">
            <a:avLst/>
          </a:prstGeom>
          <a:ln w="35560">
            <a:solidFill>
              <a:srgbClr val="1A6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169663" y="2926080"/>
            <a:ext cx="886969" cy="0"/>
          </a:xfrm>
          <a:prstGeom prst="line">
            <a:avLst/>
          </a:prstGeom>
          <a:ln w="35560">
            <a:solidFill>
              <a:srgbClr val="1A6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270248" y="5888736"/>
            <a:ext cx="1216152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A69B2"/>
                </a:solidFill>
                <a:latin typeface="Aptos"/>
              </a:rPr>
              <a:t>Supply +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81728" y="6062472"/>
            <a:ext cx="6903720" cy="4480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73752" y="6144768"/>
            <a:ext cx="653796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596D81"/>
                </a:solidFill>
                <a:latin typeface="Aptos"/>
              </a:rPr>
              <a:t>Common GND: supply −, generator return, CH1 ground, board GND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5216" y="6583680"/>
            <a:ext cx="11045952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>
                <a:solidFill>
                  <a:srgbClr val="596D81"/>
                </a:solidFill>
                <a:latin typeface="Aptos"/>
              </a:rPr>
              <a:t>Figure. Experimental connections for the duty-cycle sweep; node labels Vbat, VGD and 5V match the Altium schematic.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